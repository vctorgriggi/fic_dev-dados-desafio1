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61" r:id="rId11"/>
    <p:sldId id="260" r:id="rId10"/>
    <p:sldId id="263" r:id="rId13"/>
    <p:sldId id="262" r:id="rId12"/>
    <p:sldId id="267" r:id="rId24"/>
    <p:sldId id="268" r:id="rId25"/>
    <p:sldId id="264" r:id="rId14"/>
    <p:sldId id="259" r:id="rId9"/>
    <p:sldId id="269" r:id="rId26"/>
    <p:sldId id="270" r:id="rId27"/>
    <p:sldId id="271" r:id="rId28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Montserrat" charset="1" panose="00000500000000000000"/>
      <p:regular r:id="rId20"/>
    </p:embeddedFont>
    <p:embeddedFont>
      <p:font typeface="Raleway Heavy" charset="1" panose="00000000000000000000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 noite, professores e turma. Eu sou o Victor e, junto com o Kevin e o Vinycius, vou apresentar o Desafio Prático 2: a plataforma de dados em camadas que construímos em cima do pipeline de conteúdos educacionais do Desafio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divisão seguiu o enunciado. O Kevin ficou com o Apache Hop: Bronze, Silver e a orquestração. O Vinycius, com Parquet, Beam, a camada Gold e a qualidade. Eu fiquei com a governança no OpenMetadata, a LGPD e o consumo no Superset. Mas todos conhecem o projeto inteiro, e qualquer um de nós responde sobre qualquer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Desafio 1, um único script Python lia os arquivos, validava e gravava direto nas tabelas finais. Funcionava, mas não guardava o dado bruto, não registrava as etapas, não tinha quarentena nem catálogo, e um erro no meio deixava o banco pela metade. No Desafio 2, o Desafio 1 virou fonte. Entraram um segundo lote de dados, com 46 anomalias colocadas de propósito, que usamos como gabarito, e um cadastro de usuários fictício, para ter dado pessoal de verdade para trabalhar a LGPD. Em cima disso: camadas no Hop, governança e qualidade, e o consumo no Superset.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arquitetura. O Hop extrai os arquivos e carrega tudo na Bronze como texto, sem transformar, guardando o arquivo, a linha e a execução de cada registro. A transformação acontece depois, dentro do PostgreSQL, em SQL versionado. Por isso o fluxo principal é ELT. Escolhemos ELT por quatro motivos: governança, porque o original fica guardado; reprocessamento, porque dá para refazer a Silver sem reler a fonte; desempenho, porque as validações que cruzam tabelas são junções que o banco resolve de uma vez; e custo, porque é um PostgreSQL só. Existe também um ramo analítico, que exporta a Silver para Parquet e processa no Apache Beam, e esse ramo é ETL. Então, no todo, a arquitetura é híbrida. Por cima, o OpenMetadata cataloga tudo, e o Superset lê só a Gold.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o coração do fluxo: o workflow principal do Hop. Primeiro ele define o identificador da execução, um UUID que aparece em todos os logs e em todas as tabelas; com ele dá para reconstituir qualquer execução. Depois a Bronze: antes de carregar qualquer coisa, o workflow confere se as nove fontes existem, e cinco pipelines leem CSV e JSON e gravam no PostgreSQL. Nesta execução foram 4.965 linhas. Na Silver, cada fonte passa por uma função de validação em SQL que devolve, para cada registro, a primeira regra que ele viola, e o Hop separa aprovados e rejeitados com o Filter rows. As regras cobrem tipos, datas, domínios, duplicidade e as referências entre usuários, conteúdos e interações. É também na Silver que cadastros viram pessoas: 173 cadastros viram 171 pessoas, porque dois pares têm o mesmo CPF ou o mesmo e-mail. Tudo vai para uma área de preparo, e a Silver é trocada de uma vez, numa transação. Depois vêm a qualidade, a Gold e a publicação dos metadados. Se qualquer etapa falha, o workflow registra a falha, fecha a execução como falha e sai com código 1, e as etapas seguintes não rodam. O fluxo roda manual, uma etapa isolada ou agendado todo dia às cinco da manhã UTC, pelo agendador nativo do Hop. E cada etapa grava início, fim, duração e contagens numa tabela de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Tratamento de erros, o RF23. Separamos dois tipos. Registro inválido não para o fluxo: ele vai para a quarentena, com o arquivo, a linha, a regra e a mensagem. Na primeira execução foram 162. Já falha de arquivo ou de conexão para o fluxo. Demonstramos quatro, num ambiente limpo, com os logs guardados no repositório: arquivo ausente, que falha antes de qualquer carga; JSON truncado, que derruba a carga daquela fonte sem tocar na Silver nem na Gold; um CSV com uma coluna faltando, que o Hop lê por posição e que só um teste de qualidade por arquivo consegue barrar; e o PostgreSQL fora do ar. Do lado direito, a recuperação. Um registro da quarentena pode ser corrigido e reprocessado, ou descartado. Um exemplo: um conteúdo chegou com carga horária negativa. Corrigimos para 45, e na execução seguinte ele entrou, e uma interação que dependia dele entrou junto. Teve até um caso em que a primeira correção ainda violava uma regra, e o registro voltou para pendente, como deveria. E não existe carga parcial: Silver e Gold são publicadas numa transação, então quem consulta vê a versão anterior inteira ou a nova inteira.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Parquet e Beam, RF24 e RF25. A Silver é exportada para Parquet particionado por mês, porque todas as análises são mensais: ler um mês é abrir uma pasta. Comparamos com CSV e JSON no mesmo recorte, com 200 mil interações. O Parquet ocupa 4,8 MB, contra 29 do CSV e 70 do JSON. E ler um mês e três colunas leva 4 milissegundos, contra 18 e 48. Um detalhe honesto: na leitura completa o CSV empata com o Parquet. O ganho está no tamanho, no recorte e nos tipos, que o Parquet preserva e o CSV perde. No Beam, implementamos o engajamento mensal por categoria, contando pessoas e não cadastros. O mesmo código roda no DirectRunner e num cluster Spark 3.5, trocando só a configuração, e o resultado é idêntico nos dois e igual à tabela da Gold calculada em SQL: 72 grupos de 72. O Spark levou 47 segundos, contra meio segundo do DirectRunner. É esperado: o cluster é de demonstração, com um worker, e o custo fixo de subir o job domina. O ganho do Spark aparece quando o volume não cabe numa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Governança no OpenMetadata. O PostgreSQL e o Superset entram por ingestão automática, disparada pelo próprio Hop ao fim de cada execução, e os arquivos de origem e as etapas do Hop são registrados por API. À esquerda, a tabela de usuários da Bronze: cada coluna tem descrição e as tags de dado pessoal da LGPD. As descrições vêm do próprio banco, versionadas junto com o SQL. À direita, o glossário: cinco termos, como taxa de conclusão, cada um com definição, regra de cálculo e dono, ligados às colunas que os calculam. Para não virar um Data Swamp: só entram os sete schemas governados, toda tabela tem dono, descrição, camada e criticidade, e tudo é configurado por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Linhagem, o RF29. Aqui está o caminho inteiro de um KPI: dos arquivos de origem, pela Bronze, Silver e Gold, até o KPI de taxa de conclusão, o dataset do SQL Lab e o dashboard. A parte do Superset o conector extrai sozinho; a parte que acontece dentro do Hop e das funções SQL nós registramos por código. Com isso dá para responder de onde vem um número: o 15% do dashboard vem desse dataset, dessa tabela, e chega até o elemento 212 de um arquivo JSON do lote 2. E os dados mestres: cadastros com o mesmo CPF ou o mesmo e-mail, comparados por hash, são a mesma pessoa. 173 cadastros viram 171 pessoas, e a Gold conta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Qualidade, o RF31. São 8 testes, cobrindo completude, validade, unicidade, consistência e integridade referencial, cada um com fórmula, limite, severidade e ação. O resultado fica guardado por execução e por fonte, e o gráfico mostra a evolução de duas métricas em sete execuções, com a linha do limite. Teste crítico reprovado bloqueia a Gold, e isso é verificado duas vezes: no workflow e dentro da própria função que publica a Gold. Demonstramos o bloqueio duas vezes: subindo o limite de um teste e com o arquivo de estrutura errada. Nos dois casos a Gold não foi publicada, e a versão anterior continuou no 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LGPD, RF32 e RF33. Todos os dados pessoais são fictícios: e-mails de domínio reservado, DDD que não existe e CPF com dígito verificador inválido. O inventário classifica cada campo, com finalidade, acesso e retenção. As técnicas: o nome é mascarado; o identificador do usuário é pseudonimizado com HMAC e chave secreta; CPF e e-mail viram hash com salt, e é esse hash que permite juntar cadastros da mesma pessoa sem guardar o CPF; e e-mails e telefones digitados nos comentários são anonimizados. A diferença: o pseudônimo é reversível de forma controlada, pela tabela restrita; o hash não tem volta. Segredos ficam só no ponto env, fora do git. E o principal: o Superset se conecta com um papel chamado consumo, que só lê a Gold. Deixa eu mostrar. [CMD+TAB uma vez: terminal] Como consumo, tento ler a Bronze. [COLE o primeiro comando e ENTER] Permissão negada. Agora leio a Gold. [COLE o segundo comando e ENTER] A pessoa aparece só com o nome mascarado e o pseudônimo. [CMD+TAB uma vez: de volta aos slides e avance para o 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fim, o consumo. A pergunta do storytelling é: em qual categoria agir primeiro para aumentar a conclusão, e como? [CMD+TAB duas vezes (segure Cmd, aperte Tab duas vezes): navegador, aba do storytelling] No contexto, só 22,3% do que começa é concluído. A evidência: Segurança e Governança conclui 15%, a menor taxa, mas é a segunda mais bem avaliada, então não é conteúdo ruim. [ROLAR até a descoberta] A descoberta: a queda está nos vídeos e podcasts de 31 a 90 minutos. A recomendação: um piloto de 60 dias com módulos de até 30 minutos, com meta de chegar a 22%. E somos honestos com os dados: desde junho a ordem das categorias muda, então é um piloto medido, não uma certeza.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[CTRL+TAB: aba da exploração] Aqui, um clique na barra de Segurança e Governança filtra os outros gráficos: é o filtro cruzado. [CLIQUE na primeira barra, Segurança e Governança] Temos filtros de período e de categoria, as quatro consultas do SQL Lab viraram datasets virtuais, e o alerta diário manda e-mail quando alguma categoria fica abaixo de 18%. Ele disparou, e o e-mail chegou. [CMD+TAB uma vez: de volta aos slides, que ainda estão no 12; avance dois slides, até o 14]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Resumindo: os vinte requisitos, do RF15 ao RF34, estão implementados, cada um com evidência no repositório. Usamos o Claude Code para explicar erros, sugerir consultas e revisar código, e toda sugestão foi testada pela equipe antes de ser usada. O registro está no documento de uso da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Obrigado! Ficamos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5.jpe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notesSlide" Target="../notesSlides/notesSlide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7502" y="559023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85454" y="-1986481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7857" y="-643475"/>
            <a:ext cx="1286950" cy="12869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573918" y="3143201"/>
            <a:ext cx="9146584" cy="5246370"/>
            <a:chOff x="0" y="0"/>
            <a:chExt cx="7981950" cy="4578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-46997" t="-7305" r="-47018" b="-13505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028700" y="1242011"/>
            <a:ext cx="3447512" cy="619947"/>
          </a:xfrm>
          <a:custGeom>
            <a:avLst/>
            <a:gdLst/>
            <a:ahLst/>
            <a:cxnLst/>
            <a:rect r="r" b="b" t="t" l="l"/>
            <a:pathLst>
              <a:path h="619947" w="3447512">
                <a:moveTo>
                  <a:pt x="0" y="0"/>
                </a:moveTo>
                <a:lnTo>
                  <a:pt x="3447512" y="0"/>
                </a:lnTo>
                <a:lnTo>
                  <a:pt x="3447512" y="619947"/>
                </a:lnTo>
                <a:lnTo>
                  <a:pt x="0" y="619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55" t="-219060" r="-2025" b="-26417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32827" y="2691442"/>
            <a:ext cx="7114876" cy="2079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7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Plataforma de Dados em Camadas para Conteúdos Educacionais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2827" y="6049476"/>
            <a:ext cx="7366063" cy="147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Kevin da Silva Medeiros</a:t>
            </a:r>
          </a:p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Vinycius Yuji Mogami</a:t>
            </a:r>
          </a:p>
          <a:p>
            <a:pPr algn="l">
              <a:lnSpc>
                <a:spcPts val="3855"/>
              </a:lnSpc>
              <a:spcBef>
                <a:spcPct val="0"/>
              </a:spcBef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Victor Griggi Moreira Regis da Silva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43576" y="1175336"/>
            <a:ext cx="8541878" cy="168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Fundamentos de Dados para IA - Prof. Elmo de Faria e Prof. Josiel Figueiredo</a:t>
            </a:r>
          </a:p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Pitch Técnico - Desafio 02 - Turma Noturno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4447" y="7114464"/>
            <a:ext cx="4031201" cy="1406943"/>
            <a:chOff x="0" y="0"/>
            <a:chExt cx="922973" cy="322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2973" cy="322130"/>
            </a:xfrm>
            <a:custGeom>
              <a:avLst/>
              <a:gdLst/>
              <a:ahLst/>
              <a:cxnLst/>
              <a:rect r="r" b="b" t="t" l="l"/>
              <a:pathLst>
                <a:path h="322130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322130"/>
                  </a:lnTo>
                  <a:lnTo>
                    <a:pt x="0" y="32213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22973" cy="36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5081" y="7114464"/>
            <a:ext cx="4031201" cy="1406943"/>
            <a:chOff x="0" y="0"/>
            <a:chExt cx="922973" cy="322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2973" cy="322130"/>
            </a:xfrm>
            <a:custGeom>
              <a:avLst/>
              <a:gdLst/>
              <a:ahLst/>
              <a:cxnLst/>
              <a:rect r="r" b="b" t="t" l="l"/>
              <a:pathLst>
                <a:path h="322130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322130"/>
                  </a:lnTo>
                  <a:lnTo>
                    <a:pt x="0" y="32213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22973" cy="36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74462" y="7114464"/>
            <a:ext cx="4031201" cy="1406943"/>
            <a:chOff x="0" y="0"/>
            <a:chExt cx="922973" cy="3221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2973" cy="322130"/>
            </a:xfrm>
            <a:custGeom>
              <a:avLst/>
              <a:gdLst/>
              <a:ahLst/>
              <a:cxnLst/>
              <a:rect r="r" b="b" t="t" l="l"/>
              <a:pathLst>
                <a:path h="322130" w="922973">
                  <a:moveTo>
                    <a:pt x="0" y="0"/>
                  </a:moveTo>
                  <a:lnTo>
                    <a:pt x="922973" y="0"/>
                  </a:lnTo>
                  <a:lnTo>
                    <a:pt x="922973" y="322130"/>
                  </a:lnTo>
                  <a:lnTo>
                    <a:pt x="0" y="322130"/>
                  </a:ln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22973" cy="360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860439" y="9340175"/>
            <a:ext cx="21820987" cy="946825"/>
            <a:chOff x="0" y="0"/>
            <a:chExt cx="6110362" cy="2651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10362" cy="265132"/>
            </a:xfrm>
            <a:custGeom>
              <a:avLst/>
              <a:gdLst/>
              <a:ahLst/>
              <a:cxnLst/>
              <a:rect r="r" b="b" t="t" l="l"/>
              <a:pathLst>
                <a:path h="265132" w="611036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06057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66494" y="-816076"/>
            <a:ext cx="21820987" cy="1762900"/>
            <a:chOff x="0" y="0"/>
            <a:chExt cx="6110362" cy="4936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10362" cy="493651"/>
            </a:xfrm>
            <a:custGeom>
              <a:avLst/>
              <a:gdLst/>
              <a:ahLst/>
              <a:cxnLst/>
              <a:rect r="r" b="b" t="t" l="l"/>
              <a:pathLst>
                <a:path h="493651" w="6110362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06057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274462" y="3227081"/>
            <a:ext cx="4029711" cy="3887383"/>
          </a:xfrm>
          <a:custGeom>
            <a:avLst/>
            <a:gdLst/>
            <a:ahLst/>
            <a:cxnLst/>
            <a:rect r="r" b="b" t="t" l="l"/>
            <a:pathLst>
              <a:path h="3887383" w="4029711">
                <a:moveTo>
                  <a:pt x="0" y="0"/>
                </a:moveTo>
                <a:lnTo>
                  <a:pt x="4029711" y="0"/>
                </a:lnTo>
                <a:lnTo>
                  <a:pt x="4029711" y="3887383"/>
                </a:lnTo>
                <a:lnTo>
                  <a:pt x="0" y="3887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5" t="0" r="-1275" b="-630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28288" y="1352799"/>
            <a:ext cx="3447512" cy="619947"/>
          </a:xfrm>
          <a:custGeom>
            <a:avLst/>
            <a:gdLst/>
            <a:ahLst/>
            <a:cxnLst/>
            <a:rect r="r" b="b" t="t" l="l"/>
            <a:pathLst>
              <a:path h="619947" w="3447512">
                <a:moveTo>
                  <a:pt x="0" y="0"/>
                </a:moveTo>
                <a:lnTo>
                  <a:pt x="3447512" y="0"/>
                </a:lnTo>
                <a:lnTo>
                  <a:pt x="3447512" y="619948"/>
                </a:lnTo>
                <a:lnTo>
                  <a:pt x="0" y="619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94447" y="3230682"/>
            <a:ext cx="4031085" cy="3883782"/>
          </a:xfrm>
          <a:custGeom>
            <a:avLst/>
            <a:gdLst/>
            <a:ahLst/>
            <a:cxnLst/>
            <a:rect r="r" b="b" t="t" l="l"/>
            <a:pathLst>
              <a:path h="3883782" w="4031085">
                <a:moveTo>
                  <a:pt x="0" y="0"/>
                </a:moveTo>
                <a:lnTo>
                  <a:pt x="4031084" y="0"/>
                </a:lnTo>
                <a:lnTo>
                  <a:pt x="4031084" y="3883782"/>
                </a:lnTo>
                <a:lnTo>
                  <a:pt x="0" y="3883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792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035081" y="3230682"/>
            <a:ext cx="4031085" cy="3883782"/>
          </a:xfrm>
          <a:custGeom>
            <a:avLst/>
            <a:gdLst/>
            <a:ahLst/>
            <a:cxnLst/>
            <a:rect r="r" b="b" t="t" l="l"/>
            <a:pathLst>
              <a:path h="3883782" w="4031085">
                <a:moveTo>
                  <a:pt x="0" y="0"/>
                </a:moveTo>
                <a:lnTo>
                  <a:pt x="4031085" y="0"/>
                </a:lnTo>
                <a:lnTo>
                  <a:pt x="4031085" y="3883782"/>
                </a:lnTo>
                <a:lnTo>
                  <a:pt x="0" y="3883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792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06781" y="1867972"/>
            <a:ext cx="727443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Nossa equipe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69125" y="7331490"/>
            <a:ext cx="3481844" cy="896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3" spc="48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Kevin da Silva Medeiros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36756" y="7331490"/>
            <a:ext cx="3230575" cy="896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3" spc="48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Vinycius Yuji Mogami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76137" y="7331490"/>
            <a:ext cx="3230575" cy="896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3" spc="48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Victor Griggi M. Regis da Silva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8064" y="8577072"/>
            <a:ext cx="4032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057E"/>
                </a:solidFill>
                <a:latin typeface="Poppins"/>
              </a:rPr>
              <a:t>Apache Hop · Bronze, Silver e orquestração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8577072"/>
            <a:ext cx="4032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057E"/>
                </a:solidFill>
                <a:latin typeface="Poppins"/>
              </a:rPr>
              <a:t>Parquet, Beam, Gold e qualidade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4552" y="8577072"/>
            <a:ext cx="4032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057E"/>
                </a:solidFill>
                <a:latin typeface="Poppins"/>
              </a:rPr>
              <a:t>OpenMetadata, LGPD e Superset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56283" y="-2445901"/>
            <a:ext cx="15178802" cy="15178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2B1E1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007842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618101" y="17679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35413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5318072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8618101" y="7094753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2" id="12"/>
          <p:cNvGrpSpPr/>
          <p:nvPr/>
        </p:nvGrpSpPr>
        <p:grpSpPr>
          <a:xfrm rot="0">
            <a:off x="7944228" y="2656032"/>
            <a:ext cx="373607" cy="37360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15313" y="4180490"/>
            <a:ext cx="373607" cy="37360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944228" y="7402839"/>
            <a:ext cx="373607" cy="37360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309460" y="5760481"/>
            <a:ext cx="373607" cy="37360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33118" y="1419877"/>
            <a:ext cx="5735870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FDFDF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 Desafio 1 ao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3118" y="4337067"/>
            <a:ext cx="5197013" cy="548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spc="-52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No Desafio 1, um script único lia os arquivos, validava e gravava direto nas tabelas finais: sem dado bruto guardado, sem registro de etapas, sem quarentena e sem catálogo. O Desafio 2 transforma esse script numa plataforma de dados governada, auditável e reprocessável, e o Desafio 1 passa a ser uma das fontes.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47156" y="1937792"/>
            <a:ext cx="2417632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64">
                <a:solidFill>
                  <a:srgbClr val="163EC3"/>
                </a:solidFill>
                <a:latin typeface="Poppins Bold"/>
                <a:ea typeface="Poppins Bold"/>
                <a:cs typeface="Poppins Bold"/>
                <a:sym typeface="Poppins Bold"/>
              </a:rPr>
              <a:t>Fontes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63159" y="20412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9058" y="38146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89058" y="5591284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63159" y="7367965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15231" y="3545787"/>
            <a:ext cx="576834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64">
                <a:solidFill>
                  <a:srgbClr val="163EC3"/>
                </a:solidFill>
                <a:latin typeface="Poppins Bold"/>
                <a:ea typeface="Poppins Bold"/>
                <a:cs typeface="Poppins Bold"/>
                <a:sym typeface="Poppins Bold"/>
              </a:rPr>
              <a:t>Camadas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915231" y="5486958"/>
            <a:ext cx="576834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64">
                <a:solidFill>
                  <a:srgbClr val="163EC3"/>
                </a:solidFill>
                <a:latin typeface="Poppins Bold"/>
                <a:ea typeface="Poppins Bold"/>
                <a:cs typeface="Poppins Bold"/>
                <a:sym typeface="Poppins Bold"/>
              </a:rPr>
              <a:t>Governança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23198" y="7233204"/>
            <a:ext cx="5768345" cy="56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-64">
                <a:solidFill>
                  <a:srgbClr val="163EC3"/>
                </a:solidFill>
                <a:latin typeface="Poppins Bold"/>
                <a:ea typeface="Poppins Bold"/>
                <a:cs typeface="Poppins Bold"/>
                <a:sym typeface="Poppins Bold"/>
              </a:rPr>
              <a:t>Consumo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06406" y="6067413"/>
            <a:ext cx="6809098" cy="84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OpenMetadata, 8 testes de qualidade e proteção LGPD.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23198" y="7809149"/>
            <a:ext cx="6809098" cy="84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Storytelling, SQL Lab, filtros cruzados e alerta no Superset.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484060" y="809831"/>
            <a:ext cx="2791199" cy="501926"/>
          </a:xfrm>
          <a:custGeom>
            <a:avLst/>
            <a:gdLst/>
            <a:ahLst/>
            <a:cxnLst/>
            <a:rect r="r" b="b" t="t" l="l"/>
            <a:pathLst>
              <a:path h="501926" w="2791199">
                <a:moveTo>
                  <a:pt x="0" y="0"/>
                </a:moveTo>
                <a:lnTo>
                  <a:pt x="2791199" y="0"/>
                </a:lnTo>
                <a:lnTo>
                  <a:pt x="2791199" y="501926"/>
                </a:lnTo>
                <a:lnTo>
                  <a:pt x="0" y="501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55" t="-219060" r="-2025" b="-264178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347156" y="2437536"/>
            <a:ext cx="6809098" cy="84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Desafio 1 + lote 2 com 46 anomalias + usuários fictícios.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915231" y="4098742"/>
            <a:ext cx="6809098" cy="84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-48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Bronze, Silver e Gold no Apache Hop, com quarentena.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46523" y="-2478597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39603" y="1753799"/>
            <a:ext cx="7019697" cy="10556306"/>
            <a:chOff x="0" y="0"/>
            <a:chExt cx="660400" cy="993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93118"/>
            </a:xfrm>
            <a:custGeom>
              <a:avLst/>
              <a:gdLst/>
              <a:ahLst/>
              <a:cxnLst/>
              <a:rect r="r" b="b" t="t" l="l"/>
              <a:pathLst>
                <a:path h="99311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605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90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614313" y="2090835"/>
            <a:ext cx="6270276" cy="6270276"/>
            <a:chOff x="0" y="0"/>
            <a:chExt cx="8916670" cy="8916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903970" cy="8903970"/>
            </a:xfrm>
            <a:custGeom>
              <a:avLst/>
              <a:gdLst/>
              <a:ahLst/>
              <a:cxnLst/>
              <a:rect r="r" b="b" t="t" l="l"/>
              <a:pathLst>
                <a:path h="8903970" w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4940" y="154940"/>
              <a:ext cx="8605520" cy="8605520"/>
            </a:xfrm>
            <a:custGeom>
              <a:avLst/>
              <a:gdLst/>
              <a:ahLst/>
              <a:cxnLst/>
              <a:rect r="r" b="b" t="t" l="l"/>
              <a:pathLst>
                <a:path h="8605520" w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484060" y="809831"/>
            <a:ext cx="2791199" cy="501926"/>
          </a:xfrm>
          <a:custGeom>
            <a:avLst/>
            <a:gdLst/>
            <a:ahLst/>
            <a:cxnLst/>
            <a:rect r="r" b="b" t="t" l="l"/>
            <a:pathLst>
              <a:path h="501926" w="2791199">
                <a:moveTo>
                  <a:pt x="0" y="0"/>
                </a:moveTo>
                <a:lnTo>
                  <a:pt x="2791199" y="0"/>
                </a:lnTo>
                <a:lnTo>
                  <a:pt x="2791199" y="501926"/>
                </a:lnTo>
                <a:lnTo>
                  <a:pt x="0" y="501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91878" y="3496375"/>
            <a:ext cx="8075257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 b="1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Mascaramento</a:t>
            </a: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 do nome: Otávio Souza Carvalho vira Otávio C***.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 b="1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Pseudonimização</a:t>
            </a: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 do usuario_id com HMAC e chave secreta: reversível só pela tabela restrita.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 b="1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Hash com salt</a:t>
            </a: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 de CPF e e-mail: compara sem revelar e une cadastros da mesma pessoa.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 b="1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Anonimização</a:t>
            </a: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 de e-mails e telefones digitados nos comentários.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O Superset usa o papel </a:t>
            </a:r>
            <a:r>
              <a:rPr lang="en-US" sz="2499" spc="-49" b="1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consumo</a:t>
            </a: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: sem acesso a Bronze, Silver e à tabela restrita.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49">
                <a:solidFill>
                  <a:srgbClr val="2B1E17"/>
                </a:solidFill>
                <a:latin typeface="Poppins"/>
                <a:ea typeface="Poppins"/>
                <a:cs typeface="Poppins"/>
                <a:sym typeface="Poppins"/>
              </a:rPr>
              <a:t>Segredos só no .env; dados pessoais fictícios por construção.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1878" y="2260798"/>
            <a:ext cx="8392012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LGPD na prática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02520" y="1129818"/>
            <a:ext cx="117156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Apache Hop: da fonte à Gold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5863" y="1186968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  <p:pic>
        <p:nvPicPr>
          <p:cNvPr id="8" name="Picture 7" descr="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83080"/>
            <a:ext cx="16550640" cy="7406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4881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85863" y="1186968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5" t="-219060" r="-2025" b="-2641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05403" y="1057884"/>
            <a:ext cx="11715644" cy="53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Arquitetura: ELT com um ramo analítico</a:t>
            </a:r>
          </a:p>
        </p:txBody>
      </p:sp>
      <p:pic>
        <p:nvPicPr>
          <p:cNvPr id="8" name="Picture 7" descr="arquite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783080"/>
            <a:ext cx="16642080" cy="7635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52500"/>
            <a:ext cx="162306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Parquet e Apache Beam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5863" y="1109405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  <p:pic>
        <p:nvPicPr>
          <p:cNvPr id="8" name="Picture 7" descr="parquet_b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783080"/>
            <a:ext cx="16459200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5862" y="1324553"/>
            <a:ext cx="1445627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Erros, quarentena e recuperação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1782102" y="-1870151"/>
            <a:ext cx="3564204" cy="356420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189055" y="560465"/>
            <a:ext cx="2603846" cy="468235"/>
          </a:xfrm>
          <a:custGeom>
            <a:avLst/>
            <a:gdLst/>
            <a:ahLst/>
            <a:cxnLst/>
            <a:rect r="r" b="b" t="t" l="l"/>
            <a:pathLst>
              <a:path h="468235" w="2603846">
                <a:moveTo>
                  <a:pt x="0" y="0"/>
                </a:moveTo>
                <a:lnTo>
                  <a:pt x="2603846" y="0"/>
                </a:lnTo>
                <a:lnTo>
                  <a:pt x="2603846" y="468235"/>
                </a:lnTo>
                <a:lnTo>
                  <a:pt x="0" y="468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5" t="-219060" r="-2025" b="-26417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431912" y="8130773"/>
            <a:ext cx="5946973" cy="594697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id="11" name="Picture 10" descr="er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39" y="2811779"/>
            <a:ext cx="13981176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8728" y="-1961557"/>
            <a:ext cx="4239245" cy="423924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89055" y="560465"/>
            <a:ext cx="2603846" cy="468235"/>
          </a:xfrm>
          <a:custGeom>
            <a:avLst/>
            <a:gdLst/>
            <a:ahLst/>
            <a:cxnLst/>
            <a:rect r="r" b="b" t="t" l="l"/>
            <a:pathLst>
              <a:path h="468235" w="2603846">
                <a:moveTo>
                  <a:pt x="0" y="0"/>
                </a:moveTo>
                <a:lnTo>
                  <a:pt x="2603846" y="0"/>
                </a:lnTo>
                <a:lnTo>
                  <a:pt x="2603846" y="468235"/>
                </a:lnTo>
                <a:lnTo>
                  <a:pt x="0" y="468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5" t="-219060" r="-2025" b="-26417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107686" y="6883413"/>
            <a:ext cx="7370430" cy="737043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15862" y="1596045"/>
            <a:ext cx="1445627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Qualidade: o portão da Gold</a:t>
            </a:r>
          </a:p>
        </p:txBody>
      </p:sp>
      <p:pic>
        <p:nvPicPr>
          <p:cNvPr id="11" name="Picture 10" descr="qual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773380"/>
            <a:ext cx="14264640" cy="57917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3976" y="2142523"/>
            <a:ext cx="19143039" cy="3202145"/>
            <a:chOff x="0" y="0"/>
            <a:chExt cx="4373628" cy="731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3628" cy="731597"/>
            </a:xfrm>
            <a:custGeom>
              <a:avLst/>
              <a:gdLst/>
              <a:ahLst/>
              <a:cxnLst/>
              <a:rect r="r" b="b" t="t" l="l"/>
              <a:pathLst>
                <a:path h="731597" w="4373628">
                  <a:moveTo>
                    <a:pt x="3640" y="0"/>
                  </a:moveTo>
                  <a:lnTo>
                    <a:pt x="4369988" y="0"/>
                  </a:lnTo>
                  <a:cubicBezTo>
                    <a:pt x="4371998" y="0"/>
                    <a:pt x="4373628" y="1630"/>
                    <a:pt x="4373628" y="3640"/>
                  </a:cubicBezTo>
                  <a:lnTo>
                    <a:pt x="4373628" y="727957"/>
                  </a:lnTo>
                  <a:cubicBezTo>
                    <a:pt x="4373628" y="729968"/>
                    <a:pt x="4371998" y="731597"/>
                    <a:pt x="4369988" y="731597"/>
                  </a:cubicBezTo>
                  <a:lnTo>
                    <a:pt x="3640" y="731597"/>
                  </a:lnTo>
                  <a:cubicBezTo>
                    <a:pt x="1630" y="731597"/>
                    <a:pt x="0" y="729968"/>
                    <a:pt x="0" y="727957"/>
                  </a:cubicBezTo>
                  <a:lnTo>
                    <a:pt x="0" y="3640"/>
                  </a:lnTo>
                  <a:cubicBezTo>
                    <a:pt x="0" y="1630"/>
                    <a:pt x="1630" y="0"/>
                    <a:pt x="364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373628" cy="769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60385" y="5792344"/>
            <a:ext cx="3171747" cy="317174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58127" y="5792344"/>
            <a:ext cx="3171747" cy="317174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55868" y="5792344"/>
            <a:ext cx="3171747" cy="317174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152" t="0" r="-3152" b="-6305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534760"/>
            <a:ext cx="5493572" cy="987879"/>
          </a:xfrm>
          <a:custGeom>
            <a:avLst/>
            <a:gdLst/>
            <a:ahLst/>
            <a:cxnLst/>
            <a:rect r="r" b="b" t="t" l="l"/>
            <a:pathLst>
              <a:path h="987879" w="5493572">
                <a:moveTo>
                  <a:pt x="0" y="0"/>
                </a:moveTo>
                <a:lnTo>
                  <a:pt x="5493572" y="0"/>
                </a:lnTo>
                <a:lnTo>
                  <a:pt x="5493572" y="987880"/>
                </a:lnTo>
                <a:lnTo>
                  <a:pt x="0" y="987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55" t="-219060" r="-2025" b="-26417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25720" y="9271450"/>
            <a:ext cx="512709" cy="512709"/>
          </a:xfrm>
          <a:custGeom>
            <a:avLst/>
            <a:gdLst/>
            <a:ahLst/>
            <a:cxnLst/>
            <a:rect r="r" b="b" t="t" l="l"/>
            <a:pathLst>
              <a:path h="512709" w="512709">
                <a:moveTo>
                  <a:pt x="0" y="0"/>
                </a:moveTo>
                <a:lnTo>
                  <a:pt x="512709" y="0"/>
                </a:lnTo>
                <a:lnTo>
                  <a:pt x="512709" y="512710"/>
                </a:lnTo>
                <a:lnTo>
                  <a:pt x="0" y="512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66558" y="9271450"/>
            <a:ext cx="512709" cy="512709"/>
          </a:xfrm>
          <a:custGeom>
            <a:avLst/>
            <a:gdLst/>
            <a:ahLst/>
            <a:cxnLst/>
            <a:rect r="r" b="b" t="t" l="l"/>
            <a:pathLst>
              <a:path h="512709" w="512709">
                <a:moveTo>
                  <a:pt x="0" y="0"/>
                </a:moveTo>
                <a:lnTo>
                  <a:pt x="512710" y="0"/>
                </a:lnTo>
                <a:lnTo>
                  <a:pt x="512710" y="512710"/>
                </a:lnTo>
                <a:lnTo>
                  <a:pt x="0" y="512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054626" y="9271450"/>
            <a:ext cx="512709" cy="512709"/>
          </a:xfrm>
          <a:custGeom>
            <a:avLst/>
            <a:gdLst/>
            <a:ahLst/>
            <a:cxnLst/>
            <a:rect r="r" b="b" t="t" l="l"/>
            <a:pathLst>
              <a:path h="512709" w="512709">
                <a:moveTo>
                  <a:pt x="0" y="0"/>
                </a:moveTo>
                <a:lnTo>
                  <a:pt x="512709" y="0"/>
                </a:lnTo>
                <a:lnTo>
                  <a:pt x="512709" y="512710"/>
                </a:lnTo>
                <a:lnTo>
                  <a:pt x="0" y="5127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0285" y="3010933"/>
            <a:ext cx="12127430" cy="182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92"/>
              </a:lnSpc>
            </a:pPr>
            <a:r>
              <a:rPr lang="en-US" b="true" sz="14400" spc="-288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OBRIGADO!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38429" y="9162680"/>
            <a:ext cx="2996089" cy="69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Kevin da Silva Medeiros 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KevinSMedeiros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83422" y="9162680"/>
            <a:ext cx="1938020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Vinycius Yuji Mogami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vinyuji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86918" y="9162680"/>
            <a:ext cx="154193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Victor Griggi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vctorgriggi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70802" y="431833"/>
            <a:ext cx="854187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Fundamentos de Dados para IA - Prof. Elmo de Faria e Prof. Josiel Figueiredo</a:t>
            </a:r>
          </a:p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Pitch Técnico - Desafio 02 - Turma Noturno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324881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85863" y="1186968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5" t="-219060" r="-2025" b="-2641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05403" y="1057884"/>
            <a:ext cx="11715644" cy="53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Catálogo, classificação e glossário</a:t>
            </a:r>
          </a:p>
        </p:txBody>
      </p:sp>
      <p:pic>
        <p:nvPicPr>
          <p:cNvPr id="8" name="Picture 7" descr="om_cata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783080"/>
            <a:ext cx="16642080" cy="7635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324881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985863" y="1186968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5" t="-219060" r="-2025" b="-2641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05403" y="1057884"/>
            <a:ext cx="11715644" cy="537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Linhagem e dados mestres</a:t>
            </a:r>
          </a:p>
        </p:txBody>
      </p:sp>
      <p:pic>
        <p:nvPicPr>
          <p:cNvPr id="8" name="Picture 7" descr="linhagem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783080"/>
            <a:ext cx="16642080" cy="7635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02520" y="1129818"/>
            <a:ext cx="1171564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Storytelling: onde agir primeiro?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5863" y="1186968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  <p:pic>
        <p:nvPicPr>
          <p:cNvPr id="8" name="Picture 7" descr="storytel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783080"/>
            <a:ext cx="16550640" cy="7406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247242" y="242294"/>
            <a:ext cx="17793515" cy="9802411"/>
            <a:chOff x="0" y="0"/>
            <a:chExt cx="4982580" cy="27448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2580" cy="2744893"/>
            </a:xfrm>
            <a:custGeom>
              <a:avLst/>
              <a:gdLst/>
              <a:ahLst/>
              <a:cxnLst/>
              <a:rect r="r" b="b" t="t" l="l"/>
              <a:pathLst>
                <a:path h="2744893" w="4982580">
                  <a:moveTo>
                    <a:pt x="0" y="0"/>
                  </a:moveTo>
                  <a:lnTo>
                    <a:pt x="4982580" y="0"/>
                  </a:lnTo>
                  <a:lnTo>
                    <a:pt x="4982580" y="2744893"/>
                  </a:lnTo>
                  <a:lnTo>
                    <a:pt x="0" y="2744893"/>
                  </a:lnTo>
                  <a:close/>
                </a:path>
              </a:pathLst>
            </a:custGeom>
            <a:ln w="2286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82580" cy="27829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52500"/>
            <a:ext cx="16230600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Exploração, SQL Lab e alerta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985863" y="1109405"/>
            <a:ext cx="2273437" cy="408820"/>
          </a:xfrm>
          <a:custGeom>
            <a:avLst/>
            <a:gdLst/>
            <a:ahLst/>
            <a:cxnLst/>
            <a:rect r="r" b="b" t="t" l="l"/>
            <a:pathLst>
              <a:path h="408820" w="2273437">
                <a:moveTo>
                  <a:pt x="0" y="0"/>
                </a:moveTo>
                <a:lnTo>
                  <a:pt x="2273437" y="0"/>
                </a:lnTo>
                <a:lnTo>
                  <a:pt x="2273437" y="408820"/>
                </a:lnTo>
                <a:lnTo>
                  <a:pt x="0" y="40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5" t="-219060" r="-2025" b="-264178"/>
            </a:stretch>
          </a:blipFill>
        </p:spPr>
      </p:sp>
      <p:pic>
        <p:nvPicPr>
          <p:cNvPr id="8" name="Picture 7" descr="explor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783080"/>
            <a:ext cx="16459200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708728" y="-1961557"/>
            <a:ext cx="4239245" cy="423924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89055" y="560465"/>
            <a:ext cx="2603846" cy="468235"/>
          </a:xfrm>
          <a:custGeom>
            <a:avLst/>
            <a:gdLst/>
            <a:ahLst/>
            <a:cxnLst/>
            <a:rect r="r" b="b" t="t" l="l"/>
            <a:pathLst>
              <a:path h="468235" w="2603846">
                <a:moveTo>
                  <a:pt x="0" y="0"/>
                </a:moveTo>
                <a:lnTo>
                  <a:pt x="2603846" y="0"/>
                </a:lnTo>
                <a:lnTo>
                  <a:pt x="2603846" y="468235"/>
                </a:lnTo>
                <a:lnTo>
                  <a:pt x="0" y="468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55" t="-219060" r="-2025" b="-26417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107686" y="6883413"/>
            <a:ext cx="7370430" cy="737043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6057E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15862" y="1596045"/>
            <a:ext cx="14456276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2B1E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Resultados e uso de IA</a:t>
            </a:r>
          </a:p>
        </p:txBody>
      </p:sp>
      <p:pic>
        <p:nvPicPr>
          <p:cNvPr id="11" name="Picture 10" descr="resulta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773380"/>
            <a:ext cx="14264640" cy="57917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DAHVCQf44D8</dc:identifier>
  <dcterms:modified xsi:type="dcterms:W3CDTF">2011-08-01T06:04:30Z</dcterms:modified>
  <cp:revision>1</cp:revision>
  <dc:title>Cópia de [FICDEV_IA] Pitch - Desafio 02</dc:title>
</cp:coreProperties>
</file>